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478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144000" y="-914400"/>
            <a:ext cx="9144000" cy="9144000"/>
          </a:xfrm>
          <a:prstGeom prst="ellipse">
            <a:avLst/>
          </a:prstGeom>
          <a:solidFill>
            <a:srgbClr val="1E57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371600" y="3657600"/>
            <a:ext cx="6400800" cy="6400800"/>
          </a:xfrm>
          <a:prstGeom prst="ellipse">
            <a:avLst/>
          </a:prstGeom>
          <a:solidFill>
            <a:srgbClr val="1E57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058400" y="5029200"/>
            <a:ext cx="3657600" cy="3657600"/>
          </a:xfrm>
          <a:prstGeom prst="ellipse">
            <a:avLst/>
          </a:prstGeom>
          <a:solidFill>
            <a:srgbClr val="1E57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182880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200" b="1">
                <a:solidFill>
                  <a:srgbClr val="FFFFFF"/>
                </a:solidFill>
                <a:latin typeface="Microsoft YaHei"/>
              </a:defRPr>
            </a:pPr>
            <a:r>
              <a:t>数值最优化算法与理论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92608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BBDEFB"/>
                </a:solidFill>
                <a:latin typeface="Microsoft YaHei"/>
              </a:defRPr>
            </a:pPr>
            <a:r>
              <a:t>第 1 章  引言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41148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90CAF9"/>
                </a:solidFill>
                <a:latin typeface="Microsoft YaHei"/>
              </a:defRPr>
            </a:pPr>
            <a:r>
              <a:t>最优化问题概述 · 凸集与凸函数 · 收敛性分析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57607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0CAF9"/>
                </a:solidFill>
                <a:latin typeface="Microsoft YaHei"/>
              </a:defRPr>
            </a:pPr>
            <a:r>
              <a:t>数值最优化算法与理论 — 课程笔记整理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CF0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A47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457200"/>
            <a:ext cx="11064240" cy="585216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A478A"/>
                </a:solidFill>
                <a:latin typeface="Microsoft YaHei"/>
              </a:defRPr>
            </a:pPr>
            <a:r>
              <a:t>目  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1645920"/>
            <a:ext cx="9144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spcAft>
                <a:spcPts val="400"/>
              </a:spcAft>
            </a:pPr>
            <a:r>
              <a:rPr sz="2200" b="1">
                <a:solidFill>
                  <a:srgbClr val="1A478A"/>
                </a:solidFill>
                <a:latin typeface="Microsoft YaHei"/>
              </a:rPr>
              <a:t>  ●  最优化问题概述</a:t>
            </a:r>
            <a:r>
              <a:rPr sz="1500">
                <a:solidFill>
                  <a:srgbClr val="7F8C8D"/>
                </a:solidFill>
                <a:latin typeface="Microsoft YaHei"/>
              </a:rPr>
              <a:t>    —  数学模型 · 最优解分类 · 三大规划问题</a:t>
            </a:r>
          </a:p>
          <a:p>
            <a:pPr>
              <a:spcBef>
                <a:spcPts val="1000"/>
              </a:spcBef>
              <a:spcAft>
                <a:spcPts val="400"/>
              </a:spcAft>
            </a:pPr>
            <a:r>
              <a:rPr sz="2200" b="1">
                <a:solidFill>
                  <a:srgbClr val="1A478A"/>
                </a:solidFill>
                <a:latin typeface="Microsoft YaHei"/>
              </a:rPr>
              <a:t>  ●  基础知识回顾</a:t>
            </a:r>
            <a:r>
              <a:rPr sz="1500">
                <a:solidFill>
                  <a:srgbClr val="7F8C8D"/>
                </a:solidFill>
                <a:latin typeface="Microsoft YaHei"/>
              </a:rPr>
              <a:t>    —  梯度 · Hessian 矩阵 · Taylor 展开 · 向量范数</a:t>
            </a:r>
          </a:p>
          <a:p>
            <a:pPr>
              <a:spcBef>
                <a:spcPts val="1000"/>
              </a:spcBef>
              <a:spcAft>
                <a:spcPts val="400"/>
              </a:spcAft>
            </a:pPr>
            <a:r>
              <a:rPr sz="2200" b="1">
                <a:solidFill>
                  <a:srgbClr val="1A478A"/>
                </a:solidFill>
                <a:latin typeface="Microsoft YaHei"/>
              </a:rPr>
              <a:t>  ●  凸集</a:t>
            </a:r>
            <a:r>
              <a:rPr sz="1500">
                <a:solidFill>
                  <a:srgbClr val="7F8C8D"/>
                </a:solidFill>
                <a:latin typeface="Microsoft YaHei"/>
              </a:rPr>
              <a:t>    —  定义 · 性质 · 锥与凸锥 · 极点与方向</a:t>
            </a:r>
          </a:p>
          <a:p>
            <a:pPr>
              <a:spcBef>
                <a:spcPts val="1000"/>
              </a:spcBef>
              <a:spcAft>
                <a:spcPts val="400"/>
              </a:spcAft>
            </a:pPr>
            <a:r>
              <a:rPr sz="2200" b="1">
                <a:solidFill>
                  <a:srgbClr val="1A478A"/>
                </a:solidFill>
                <a:latin typeface="Microsoft YaHei"/>
              </a:rPr>
              <a:t>  ●  凸函数</a:t>
            </a:r>
            <a:r>
              <a:rPr sz="1500">
                <a:solidFill>
                  <a:srgbClr val="7F8C8D"/>
                </a:solidFill>
                <a:latin typeface="Microsoft YaHei"/>
              </a:rPr>
              <a:t>    —  定义 · 等价条件 · 严格凸 · 一致凸</a:t>
            </a:r>
          </a:p>
          <a:p>
            <a:pPr>
              <a:spcBef>
                <a:spcPts val="1000"/>
              </a:spcBef>
              <a:spcAft>
                <a:spcPts val="400"/>
              </a:spcAft>
            </a:pPr>
            <a:r>
              <a:rPr sz="2200" b="1">
                <a:solidFill>
                  <a:srgbClr val="1A478A"/>
                </a:solidFill>
                <a:latin typeface="Microsoft YaHei"/>
              </a:rPr>
              <a:t>  ●  凹函数与水平集</a:t>
            </a:r>
            <a:r>
              <a:rPr sz="1500">
                <a:solidFill>
                  <a:srgbClr val="7F8C8D"/>
                </a:solidFill>
                <a:latin typeface="Microsoft YaHei"/>
              </a:rPr>
              <a:t>    —  凹函数 · 凸函数的上图像 · 水平集凸性</a:t>
            </a:r>
          </a:p>
          <a:p>
            <a:pPr>
              <a:spcBef>
                <a:spcPts val="1000"/>
              </a:spcBef>
              <a:spcAft>
                <a:spcPts val="400"/>
              </a:spcAft>
            </a:pPr>
            <a:r>
              <a:rPr sz="2200" b="1">
                <a:solidFill>
                  <a:srgbClr val="1A478A"/>
                </a:solidFill>
                <a:latin typeface="Microsoft YaHei"/>
              </a:rPr>
              <a:t>  ●  收敛性概念</a:t>
            </a:r>
            <a:r>
              <a:rPr sz="1500">
                <a:solidFill>
                  <a:srgbClr val="7F8C8D"/>
                </a:solidFill>
                <a:latin typeface="Microsoft YaHei"/>
              </a:rPr>
              <a:t>    —  局部收敛 · 全局收敛 · 收敛阶</a:t>
            </a:r>
          </a:p>
          <a:p>
            <a:pPr>
              <a:spcBef>
                <a:spcPts val="1000"/>
              </a:spcBef>
              <a:spcAft>
                <a:spcPts val="400"/>
              </a:spcAft>
            </a:pPr>
            <a:r>
              <a:rPr sz="2200" b="1">
                <a:solidFill>
                  <a:srgbClr val="1A478A"/>
                </a:solidFill>
                <a:latin typeface="Microsoft YaHei"/>
              </a:rPr>
              <a:t>  ●  附录</a:t>
            </a:r>
            <a:r>
              <a:rPr sz="1500">
                <a:solidFill>
                  <a:srgbClr val="7F8C8D"/>
                </a:solidFill>
                <a:latin typeface="Microsoft YaHei"/>
              </a:rPr>
              <a:t>    —  Sherman-Morrison 公式 · 行列式引理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CF0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A47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457200"/>
            <a:ext cx="11064240" cy="585216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A478A"/>
                </a:solidFill>
                <a:latin typeface="Microsoft YaHei"/>
              </a:defRPr>
            </a:pPr>
            <a:r>
              <a:t>§1-1  最优化问题概述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1554480"/>
            <a:ext cx="101498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2E8B57"/>
                </a:solidFill>
                <a:latin typeface="Microsoft YaHei"/>
              </a:defRPr>
            </a:pPr>
            <a:r>
              <a:t>最优化问题的数学模型</a:t>
            </a:r>
          </a:p>
          <a:p>
            <a:pPr>
              <a:spcBef>
                <a:spcPts val="300"/>
              </a:spcBef>
              <a:spcAft>
                <a:spcPts val="200"/>
              </a:spcAft>
            </a:pPr>
            <a:r>
              <a:rPr sz="1700" b="1">
                <a:solidFill>
                  <a:srgbClr val="2C3E50"/>
                </a:solidFill>
                <a:latin typeface="Microsoft YaHei"/>
              </a:rPr>
              <a:t>说明：</a:t>
            </a:r>
            <a:r>
              <a:rPr sz="1700">
                <a:solidFill>
                  <a:srgbClr val="2C3E50"/>
                </a:solidFill>
                <a:latin typeface="Microsoft YaHei"/>
              </a:rPr>
              <a:t>其中 min 是 minimizing (极小化) 的简称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700">
                <a:solidFill>
                  <a:srgbClr val="2C3E50"/>
                </a:solidFill>
                <a:latin typeface="Microsoft YaHei"/>
              </a:defRPr>
            </a:pPr>
            <a:r>
              <a:t>若 f 为效益函数，则模型为 max f(x) = -min[-f(x)]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700">
                <a:solidFill>
                  <a:srgbClr val="2C3E50"/>
                </a:solidFill>
                <a:latin typeface="Microsoft YaHei"/>
              </a:defRPr>
            </a:pPr>
            <a:r>
              <a:t>f — 目标函数 (Objective Function)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700">
                <a:solidFill>
                  <a:srgbClr val="2C3E50"/>
                </a:solidFill>
                <a:latin typeface="Microsoft YaHei"/>
              </a:defRPr>
            </a:pPr>
            <a:r>
              <a:t>D — 可行域 (Feasible Region)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700">
                <a:solidFill>
                  <a:srgbClr val="2C3E50"/>
                </a:solidFill>
                <a:latin typeface="Microsoft YaHei"/>
              </a:defRPr>
            </a:pPr>
            <a:r>
              <a:t>x ∈ D — 可行点 (Feasible Point)</a:t>
            </a:r>
          </a:p>
          <a:p>
            <a:pPr>
              <a:spcBef>
                <a:spcPts val="1000"/>
              </a:spcBef>
            </a:pPr>
            <a:r>
              <a:rPr sz="1600" i="1">
                <a:solidFill>
                  <a:srgbClr val="7F8C8D"/>
                </a:solidFill>
                <a:latin typeface="Microsoft YaHei"/>
              </a:rPr>
              <a:t>通俗理解：在众多可行方案中寻求最佳方案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05840" y="2286000"/>
            <a:ext cx="10058400" cy="640080"/>
          </a:xfrm>
          <a:prstGeom prst="roundRect">
            <a:avLst>
              <a:gd name="adj" fmla="val 4000"/>
            </a:avLst>
          </a:prstGeom>
          <a:solidFill>
            <a:srgbClr val="F8F9FA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 tIns="101600" bIns="101600"/>
          <a:lstStyle/>
          <a:p>
            <a:pPr algn="l">
              <a:defRPr sz="2000">
                <a:solidFill>
                  <a:srgbClr val="2C3E50"/>
                </a:solidFill>
                <a:latin typeface="Cambria Math"/>
              </a:defRPr>
            </a:pPr>
            <a:r>
              <a:t>  min  f(x),    x ∈ D ⊆ ℝⁿ        (*)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CF0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A47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457200"/>
            <a:ext cx="11064240" cy="585216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A478A"/>
                </a:solidFill>
                <a:latin typeface="Microsoft YaHei"/>
              </a:defRPr>
            </a:pPr>
            <a:r>
              <a:t>§1-1  无约束与约束最优化问题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1554480"/>
            <a:ext cx="101498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2E8B57"/>
                </a:solidFill>
                <a:latin typeface="Microsoft YaHei"/>
              </a:defRPr>
            </a:pPr>
            <a:r>
              <a:t>无约束最优化问题 (Unconstrained Optimization)</a:t>
            </a:r>
          </a:p>
          <a:p>
            <a:pPr>
              <a:spcBef>
                <a:spcPts val="1600"/>
              </a:spcBef>
            </a:pPr>
            <a:r>
              <a:rPr sz="2000" b="1">
                <a:solidFill>
                  <a:srgbClr val="2E8B57"/>
                </a:solidFill>
                <a:latin typeface="Microsoft YaHei"/>
              </a:rPr>
              <a:t>约束最优化问题 (Constrained Optimization)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700">
                <a:solidFill>
                  <a:srgbClr val="2C3E50"/>
                </a:solidFill>
                <a:latin typeface="Microsoft YaHei"/>
              </a:defRPr>
            </a:pPr>
            <a:r>
              <a:t>gᵢ — 不等式约束函数；hⱼ — 等式约束函数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700">
                <a:solidFill>
                  <a:srgbClr val="2C3E50"/>
                </a:solidFill>
                <a:latin typeface="Microsoft YaHei"/>
              </a:defRPr>
            </a:pPr>
            <a:r>
              <a:t>可行域 D = { x | gᵢ(x) ≥ 0, hⱼ(x) = 0 }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05840" y="2286000"/>
            <a:ext cx="5029200" cy="548640"/>
          </a:xfrm>
          <a:prstGeom prst="roundRect">
            <a:avLst>
              <a:gd name="adj" fmla="val 4000"/>
            </a:avLst>
          </a:prstGeom>
          <a:solidFill>
            <a:srgbClr val="F8F9FA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 tIns="101600" bIns="101600"/>
          <a:lstStyle/>
          <a:p>
            <a:pPr algn="l">
              <a:defRPr sz="1800">
                <a:solidFill>
                  <a:srgbClr val="2C3E50"/>
                </a:solidFill>
                <a:latin typeface="Cambria Math"/>
              </a:defRPr>
            </a:pPr>
            <a:r>
              <a:t>  min  f(x),    x ∈ ℝⁿ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05840" y="3840480"/>
            <a:ext cx="10058400" cy="914400"/>
          </a:xfrm>
          <a:prstGeom prst="roundRect">
            <a:avLst>
              <a:gd name="adj" fmla="val 4000"/>
            </a:avLst>
          </a:prstGeom>
          <a:solidFill>
            <a:srgbClr val="F8F9FA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 tIns="101600" bIns="101600"/>
          <a:lstStyle/>
          <a:p>
            <a:pPr algn="l">
              <a:defRPr sz="1800">
                <a:solidFill>
                  <a:srgbClr val="2C3E50"/>
                </a:solidFill>
                <a:latin typeface="Cambria Math"/>
              </a:defRPr>
            </a:pPr>
            <a:r>
              <a:t>  min  f(x)    s.t.   gᵢ(x) ≥ 0,  i ∈ I</a:t>
            </a:r>
            <a:br/>
            <a:r>
              <a:t>                     hⱼ(x) = 0,   j ∈ 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CF0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A47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457200"/>
            <a:ext cx="11064240" cy="585216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A478A"/>
                </a:solidFill>
                <a:latin typeface="Microsoft YaHei"/>
              </a:defRPr>
            </a:pPr>
            <a:r>
              <a:t>§1-1  最优解的分类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1554480"/>
            <a:ext cx="101498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300"/>
              </a:spcBef>
              <a:spcAft>
                <a:spcPts val="200"/>
              </a:spcAft>
            </a:pPr>
            <a:r>
              <a:rPr sz="1700" b="1">
                <a:solidFill>
                  <a:srgbClr val="2C3E50"/>
                </a:solidFill>
                <a:latin typeface="Microsoft YaHei"/>
              </a:rPr>
              <a:t>▸ 局部最优解：</a:t>
            </a:r>
            <a:r>
              <a:rPr sz="1700">
                <a:solidFill>
                  <a:srgbClr val="2C3E50"/>
                </a:solidFill>
                <a:latin typeface="Microsoft YaHei"/>
              </a:rPr>
              <a:t>设 x* ∈ D，若 ∃ U(x*) 使得 f(x*) ≤ f(x), ∀x ∈ D∩U(x*)</a:t>
            </a:r>
          </a:p>
          <a:p>
            <a:pPr>
              <a:spcBef>
                <a:spcPts val="200"/>
              </a:spcBef>
            </a:pPr>
          </a:p>
          <a:p>
            <a:pPr>
              <a:spcBef>
                <a:spcPts val="300"/>
              </a:spcBef>
              <a:spcAft>
                <a:spcPts val="200"/>
              </a:spcAft>
            </a:pPr>
            <a:r>
              <a:rPr sz="1700" b="1">
                <a:solidFill>
                  <a:srgbClr val="2C3E50"/>
                </a:solidFill>
                <a:latin typeface="Microsoft YaHei"/>
              </a:rPr>
              <a:t>▸ 严格局部最优解：</a:t>
            </a:r>
            <a:r>
              <a:rPr sz="1700">
                <a:solidFill>
                  <a:srgbClr val="2C3E50"/>
                </a:solidFill>
                <a:latin typeface="Microsoft YaHei"/>
              </a:rPr>
              <a:t>对 ∀x ∈ D∩U(x*)\ {x*} 成立严格不等式 f(x*) &lt; f(x)</a:t>
            </a:r>
          </a:p>
          <a:p>
            <a:pPr>
              <a:spcBef>
                <a:spcPts val="200"/>
              </a:spcBef>
            </a:pPr>
          </a:p>
          <a:p>
            <a:pPr>
              <a:spcBef>
                <a:spcPts val="300"/>
              </a:spcBef>
              <a:spcAft>
                <a:spcPts val="200"/>
              </a:spcAft>
            </a:pPr>
            <a:r>
              <a:rPr sz="1700" b="1">
                <a:solidFill>
                  <a:srgbClr val="2C3E50"/>
                </a:solidFill>
                <a:latin typeface="Microsoft YaHei"/>
              </a:rPr>
              <a:t>▸ 全局(整体)最优解：</a:t>
            </a:r>
            <a:r>
              <a:rPr sz="1700">
                <a:solidFill>
                  <a:srgbClr val="2C3E50"/>
                </a:solidFill>
                <a:latin typeface="Microsoft YaHei"/>
              </a:rPr>
              <a:t>对 ∀x ∈ D 成立 f(x*) ≤ f(x)</a:t>
            </a:r>
          </a:p>
          <a:p>
            <a:pPr>
              <a:spcBef>
                <a:spcPts val="200"/>
              </a:spcBef>
            </a:pPr>
          </a:p>
          <a:p>
            <a:pPr>
              <a:spcBef>
                <a:spcPts val="300"/>
              </a:spcBef>
              <a:spcAft>
                <a:spcPts val="200"/>
              </a:spcAft>
            </a:pPr>
            <a:r>
              <a:rPr sz="1700" b="1">
                <a:solidFill>
                  <a:srgbClr val="2C3E50"/>
                </a:solidFill>
                <a:latin typeface="Microsoft YaHei"/>
              </a:rPr>
              <a:t>▸ 严格全局最优解：</a:t>
            </a:r>
            <a:r>
              <a:rPr sz="1700">
                <a:solidFill>
                  <a:srgbClr val="2C3E50"/>
                </a:solidFill>
                <a:latin typeface="Microsoft YaHei"/>
              </a:rPr>
              <a:t>对 ∀x ∈ D\ {x*} 成立严格不等式 f(x*) &lt; f(x)</a:t>
            </a:r>
          </a:p>
          <a:p>
            <a:pPr>
              <a:spcBef>
                <a:spcPts val="1200"/>
              </a:spcBef>
            </a:pPr>
            <a:r>
              <a:rPr sz="1600" i="1">
                <a:solidFill>
                  <a:srgbClr val="2E8B57"/>
                </a:solidFill>
                <a:latin typeface="Microsoft YaHei"/>
              </a:rPr>
              <a:t>→ 最优化主要研究内容：求解最优解（包括局部与全局）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CF0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A47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457200"/>
            <a:ext cx="11064240" cy="585216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A478A"/>
                </a:solidFill>
                <a:latin typeface="Microsoft YaHei"/>
              </a:defRPr>
            </a:pPr>
            <a:r>
              <a:t>§1-1  线性规划 · 二次规划 · 凸规划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1554480"/>
            <a:ext cx="101498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300"/>
              </a:spcBef>
              <a:spcAft>
                <a:spcPts val="200"/>
              </a:spcAft>
            </a:pPr>
            <a:r>
              <a:rPr sz="1700" b="1">
                <a:solidFill>
                  <a:srgbClr val="2C3E50"/>
                </a:solidFill>
                <a:latin typeface="Microsoft YaHei"/>
              </a:rPr>
              <a:t>▸ 线性规划 (LP)：</a:t>
            </a:r>
            <a:r>
              <a:rPr sz="1700">
                <a:solidFill>
                  <a:srgbClr val="2C3E50"/>
                </a:solidFill>
                <a:latin typeface="Microsoft YaHei"/>
              </a:rPr>
              <a:t>目标函数 f 与约束函数 gᵢ, hⱼ 均为线性函数</a:t>
            </a:r>
          </a:p>
          <a:p>
            <a:pPr>
              <a:spcBef>
                <a:spcPts val="300"/>
              </a:spcBef>
              <a:spcAft>
                <a:spcPts val="200"/>
              </a:spcAft>
            </a:pPr>
            <a:r>
              <a:rPr sz="1700" b="1">
                <a:solidFill>
                  <a:srgbClr val="2C3E50"/>
                </a:solidFill>
                <a:latin typeface="Microsoft YaHei"/>
              </a:rPr>
              <a:t>▸ 二次规划 (QP)：</a:t>
            </a:r>
            <a:r>
              <a:rPr sz="1700">
                <a:solidFill>
                  <a:srgbClr val="2C3E50"/>
                </a:solidFill>
                <a:latin typeface="Microsoft YaHei"/>
              </a:rPr>
              <a:t>目标函数 f 为二次函数，约束为线性函数</a:t>
            </a:r>
          </a:p>
          <a:p>
            <a:pPr>
              <a:spcBef>
                <a:spcPts val="300"/>
              </a:spcBef>
              <a:spcAft>
                <a:spcPts val="200"/>
              </a:spcAft>
            </a:pPr>
            <a:r>
              <a:rPr sz="1700" b="1">
                <a:solidFill>
                  <a:srgbClr val="2C3E50"/>
                </a:solidFill>
                <a:latin typeface="Microsoft YaHei"/>
              </a:rPr>
              <a:t>▸ 凸规划：</a:t>
            </a:r>
            <a:r>
              <a:rPr sz="1700">
                <a:solidFill>
                  <a:srgbClr val="2C3E50"/>
                </a:solidFill>
                <a:latin typeface="Microsoft YaHei"/>
              </a:rPr>
              <a:t>f 为凸函数，可行域 D 为凸集</a:t>
            </a:r>
          </a:p>
          <a:p>
            <a:pPr>
              <a:spcBef>
                <a:spcPts val="1000"/>
              </a:spcBef>
            </a:pPr>
            <a:r>
              <a:rPr sz="1600" i="1">
                <a:solidFill>
                  <a:srgbClr val="E74C3C"/>
                </a:solidFill>
                <a:latin typeface="Microsoft YaHei"/>
              </a:rPr>
              <a:t>注：凸规划中局部最优解 = 全局最优解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CF0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A47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457200"/>
            <a:ext cx="11064240" cy="585216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A478A"/>
                </a:solidFill>
                <a:latin typeface="Microsoft YaHei"/>
              </a:defRPr>
            </a:pPr>
            <a:r>
              <a:t>§1-1  基础知识 — 梯度与 Hessian 矩阵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1554480"/>
            <a:ext cx="101498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2C3E50"/>
                </a:solidFill>
                <a:latin typeface="Microsoft YaHei"/>
              </a:defRPr>
            </a:pPr>
            <a:r>
              <a:t>设 f : ℝⁿ → ℝ 二次连续可微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700">
                <a:solidFill>
                  <a:srgbClr val="2C3E50"/>
                </a:solidFill>
                <a:latin typeface="Microsoft YaHei"/>
              </a:defRPr>
            </a:pPr>
            <a:r>
              <a:t>一元辅助函数：φ(t) = f[ y + t(x - y) ]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700">
                <a:solidFill>
                  <a:srgbClr val="2C3E50"/>
                </a:solidFill>
                <a:latin typeface="Microsoft YaHei"/>
              </a:defRPr>
            </a:pPr>
            <a:r>
              <a:t>一阶导数：φ'(t) = ∇f[ y + t(x-y) ]ᵀ (x-y)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700">
                <a:solidFill>
                  <a:srgbClr val="2C3E50"/>
                </a:solidFill>
                <a:latin typeface="Microsoft YaHei"/>
              </a:defRPr>
            </a:pPr>
            <a:r>
              <a:t>二阶导数：φ''(t) = (x-y)ᵀ ∇²f[ y + t(x-y) ] (x-y)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05840" y="2103120"/>
            <a:ext cx="5029200" cy="1097280"/>
          </a:xfrm>
          <a:prstGeom prst="roundRect">
            <a:avLst>
              <a:gd name="adj" fmla="val 4000"/>
            </a:avLst>
          </a:prstGeom>
          <a:solidFill>
            <a:srgbClr val="F8F9FA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 tIns="101600" bIns="101600"/>
          <a:lstStyle/>
          <a:p>
            <a:pPr algn="l">
              <a:defRPr sz="1700">
                <a:solidFill>
                  <a:srgbClr val="2C3E50"/>
                </a:solidFill>
                <a:latin typeface="Cambria Math"/>
              </a:defRPr>
            </a:pPr>
            <a:r>
              <a:t>  ∇f(x) = [ ∂f/∂x₁, ∂f/∂x₂, …, ∂f/∂xₙ ]ᵀ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2103120"/>
            <a:ext cx="4937760" cy="1097280"/>
          </a:xfrm>
          <a:prstGeom prst="roundRect">
            <a:avLst>
              <a:gd name="adj" fmla="val 4000"/>
            </a:avLst>
          </a:prstGeom>
          <a:solidFill>
            <a:srgbClr val="F8F9FA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 tIns="101600" bIns="101600"/>
          <a:lstStyle/>
          <a:p>
            <a:pPr algn="l">
              <a:defRPr sz="1700">
                <a:solidFill>
                  <a:srgbClr val="2C3E50"/>
                </a:solidFill>
                <a:latin typeface="Cambria Math"/>
              </a:defRPr>
            </a:pPr>
            <a:r>
              <a:t>  ∇²f(x) = [ ∂²f/∂xᵢ∂xⱼ ]   (Hessian 矩阵)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CF0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A47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457200"/>
            <a:ext cx="11064240" cy="585216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A478A"/>
                </a:solidFill>
                <a:latin typeface="Microsoft YaHei"/>
              </a:defRPr>
            </a:pPr>
            <a:r>
              <a:t>§1-1  多元函数的 Taylor 展开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1554480"/>
            <a:ext cx="101498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solidFill>
                  <a:srgbClr val="2E8B57"/>
                </a:solidFill>
                <a:latin typeface="Microsoft YaHei"/>
              </a:defRPr>
            </a:pPr>
            <a:r>
              <a:t>一阶 Taylor 展开（一阶中值定理）</a:t>
            </a:r>
          </a:p>
          <a:p>
            <a:pPr>
              <a:spcBef>
                <a:spcPts val="1000"/>
              </a:spcBef>
            </a:pPr>
            <a:r>
              <a:rPr sz="1900" b="1">
                <a:solidFill>
                  <a:srgbClr val="2E8B57"/>
                </a:solidFill>
                <a:latin typeface="Microsoft YaHei"/>
              </a:rPr>
              <a:t>二阶 Taylor 展开（二阶中值定理）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700">
                <a:solidFill>
                  <a:srgbClr val="2C3E50"/>
                </a:solidFill>
                <a:latin typeface="Microsoft YaHei"/>
              </a:defRPr>
            </a:pPr>
            <a:r>
              <a:t>其中 θ ∈ (0, 1)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05840" y="2286000"/>
            <a:ext cx="10058400" cy="731520"/>
          </a:xfrm>
          <a:prstGeom prst="roundRect">
            <a:avLst>
              <a:gd name="adj" fmla="val 4000"/>
            </a:avLst>
          </a:prstGeom>
          <a:solidFill>
            <a:srgbClr val="F8F9FA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 tIns="101600" bIns="101600"/>
          <a:lstStyle/>
          <a:p>
            <a:pPr algn="l">
              <a:defRPr sz="1700">
                <a:solidFill>
                  <a:srgbClr val="2C3E50"/>
                </a:solidFill>
                <a:latin typeface="Cambria Math"/>
              </a:defRPr>
            </a:pPr>
            <a:r>
              <a:t>  f(x) = f(y) + ∇f[ y + θ(x-y) ]ᵀ (x-y)  = f(y) + ∇f(y)ᵀ (x-y) + o(‖x-y‖)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05840" y="4114800"/>
            <a:ext cx="10058400" cy="1097280"/>
          </a:xfrm>
          <a:prstGeom prst="roundRect">
            <a:avLst>
              <a:gd name="adj" fmla="val 4000"/>
            </a:avLst>
          </a:prstGeom>
          <a:solidFill>
            <a:srgbClr val="F8F9FA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 tIns="101600" bIns="101600"/>
          <a:lstStyle/>
          <a:p>
            <a:pPr algn="l">
              <a:defRPr sz="1700">
                <a:solidFill>
                  <a:srgbClr val="2C3E50"/>
                </a:solidFill>
                <a:latin typeface="Cambria Math"/>
              </a:defRPr>
            </a:pPr>
            <a:r>
              <a:t>  f(x) = f(y) + ∇f(y)ᵀ (x-y) + ½(x-y)ᵀ ∇²f[ y+θ(x-y) ] (x-y)</a:t>
            </a:r>
            <a:br/>
            <a:r>
              <a:t>       = f(y) + ∇f(y)ᵀ (x-y) + ½(x-y)ᵀ ∇²f(y) (x-y) + o(‖x-y‖²)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CF0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A47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457200"/>
            <a:ext cx="11064240" cy="585216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A478A"/>
                </a:solidFill>
                <a:latin typeface="Microsoft YaHei"/>
              </a:defRPr>
            </a:pPr>
            <a:r>
              <a:t>§1-1  向量值函数的中值定理与范数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1554480"/>
            <a:ext cx="101498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300"/>
              </a:spcBef>
              <a:spcAft>
                <a:spcPts val="200"/>
              </a:spcAft>
            </a:pPr>
            <a:r>
              <a:rPr sz="1700" b="1">
                <a:solidFill>
                  <a:srgbClr val="2C3E50"/>
                </a:solidFill>
                <a:latin typeface="Microsoft YaHei"/>
              </a:rPr>
              <a:t>向量值函数：</a:t>
            </a:r>
            <a:r>
              <a:rPr sz="1700">
                <a:solidFill>
                  <a:srgbClr val="2C3E50"/>
                </a:solidFill>
                <a:latin typeface="Microsoft YaHei"/>
              </a:rPr>
              <a:t>设 F : ℝⁿ → ℝᵐ 连续可微，F'(x) 为 Jacobi 矩阵</a:t>
            </a:r>
          </a:p>
          <a:p>
            <a:pPr>
              <a:spcBef>
                <a:spcPts val="300"/>
              </a:spcBef>
              <a:spcAft>
                <a:spcPts val="200"/>
              </a:spcAft>
            </a:pPr>
            <a:r>
              <a:rPr sz="1700" b="1">
                <a:solidFill>
                  <a:srgbClr val="2C3E50"/>
                </a:solidFill>
                <a:latin typeface="Microsoft YaHei"/>
              </a:rPr>
              <a:t>向量范数：</a:t>
            </a:r>
            <a:r>
              <a:rPr sz="1700">
                <a:solidFill>
                  <a:srgbClr val="2C3E50"/>
                </a:solidFill>
                <a:latin typeface="Microsoft YaHei"/>
              </a:rPr>
              <a:t>Euclid 范数：‖x‖ = (xᵀx)¹ᐟ²</a:t>
            </a:r>
          </a:p>
          <a:p>
            <a:pPr>
              <a:spcBef>
                <a:spcPts val="300"/>
              </a:spcBef>
              <a:spcAft>
                <a:spcPts val="200"/>
              </a:spcAft>
            </a:pPr>
            <a:r>
              <a:rPr sz="1700" b="1">
                <a:solidFill>
                  <a:srgbClr val="2C3E50"/>
                </a:solidFill>
                <a:latin typeface="Microsoft YaHei"/>
              </a:rPr>
              <a:t>矩阵范数：</a:t>
            </a:r>
            <a:r>
              <a:rPr sz="1700">
                <a:solidFill>
                  <a:srgbClr val="2C3E50"/>
                </a:solidFill>
                <a:latin typeface="Microsoft YaHei"/>
              </a:rPr>
              <a:t>矩阵从属范数：‖A‖ = max_{‖x‖=1} ‖Ax‖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05840" y="2286000"/>
            <a:ext cx="10058400" cy="731520"/>
          </a:xfrm>
          <a:prstGeom prst="roundRect">
            <a:avLst>
              <a:gd name="adj" fmla="val 4000"/>
            </a:avLst>
          </a:prstGeom>
          <a:solidFill>
            <a:srgbClr val="F8F9FA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 tIns="101600" bIns="101600"/>
          <a:lstStyle/>
          <a:p>
            <a:pPr algn="l">
              <a:defRPr sz="1800">
                <a:solidFill>
                  <a:srgbClr val="2C3E50"/>
                </a:solidFill>
                <a:latin typeface="Cambria Math"/>
              </a:defRPr>
            </a:pPr>
            <a:r>
              <a:t>  F(x) = F(y) + F'(y)(x-y) + o(‖x-y‖)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05840" y="4572000"/>
            <a:ext cx="10058400" cy="640080"/>
          </a:xfrm>
          <a:prstGeom prst="roundRect">
            <a:avLst>
              <a:gd name="adj" fmla="val 4000"/>
            </a:avLst>
          </a:prstGeom>
          <a:solidFill>
            <a:srgbClr val="F8F9FA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 tIns="101600" bIns="101600"/>
          <a:lstStyle/>
          <a:p>
            <a:pPr algn="l">
              <a:defRPr sz="1700">
                <a:solidFill>
                  <a:srgbClr val="2C3E50"/>
                </a:solidFill>
                <a:latin typeface="Cambria Math"/>
              </a:defRPr>
            </a:pPr>
            <a:r>
              <a:t>  Frobenius 范数：‖A‖_F = [tr(AAᵀ)]¹ᐟ² = (∑ᵢⱼ aᵢⱼ²)¹ᐟ²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CF0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A47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457200"/>
            <a:ext cx="11064240" cy="585216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A478A"/>
                </a:solidFill>
                <a:latin typeface="Microsoft YaHei"/>
              </a:defRPr>
            </a:pPr>
            <a:r>
              <a:t>§1-2  凸集 (Convex Set)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1554480"/>
            <a:ext cx="101498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2E8B57"/>
                </a:solidFill>
                <a:latin typeface="Microsoft YaHei"/>
              </a:defRPr>
            </a:pPr>
            <a:r>
              <a:t>凸集的定义</a:t>
            </a:r>
          </a:p>
          <a:p>
            <a:pPr>
              <a:spcBef>
                <a:spcPts val="300"/>
              </a:spcBef>
              <a:spcAft>
                <a:spcPts val="200"/>
              </a:spcAft>
            </a:pPr>
            <a:r>
              <a:rPr sz="1700" b="1">
                <a:solidFill>
                  <a:srgbClr val="2C3E50"/>
                </a:solidFill>
                <a:latin typeface="Microsoft YaHei"/>
              </a:rPr>
              <a:t>几何意义：</a:t>
            </a:r>
            <a:r>
              <a:rPr sz="1700">
                <a:solidFill>
                  <a:srgbClr val="2C3E50"/>
                </a:solidFill>
                <a:latin typeface="Microsoft YaHei"/>
              </a:rPr>
              <a:t>直观理解：集合包含其中任意两点的连线</a:t>
            </a:r>
          </a:p>
          <a:p>
            <a:pPr>
              <a:spcBef>
                <a:spcPts val="1200"/>
              </a:spcBef>
            </a:pPr>
            <a:r>
              <a:rPr sz="2000" b="1">
                <a:solidFill>
                  <a:srgbClr val="2E8B57"/>
                </a:solidFill>
                <a:latin typeface="Microsoft YaHei"/>
              </a:rPr>
              <a:t>性质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700">
                <a:solidFill>
                  <a:srgbClr val="2C3E50"/>
                </a:solidFill>
                <a:latin typeface="Microsoft YaHei"/>
              </a:defRPr>
            </a:pPr>
            <a:r>
              <a:t>若 S 是凸集，则 αS 也是凸集（∀α∈ℝ）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700">
                <a:solidFill>
                  <a:srgbClr val="2C3E50"/>
                </a:solidFill>
                <a:latin typeface="Microsoft YaHei"/>
              </a:defRPr>
            </a:pPr>
            <a:r>
              <a:t>若 S₁, S₂ 是凸集，则 S₁∩S₂, S₁+S₂, S₁-S₂ 也都是凸集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05840" y="2286000"/>
            <a:ext cx="5029200" cy="548640"/>
          </a:xfrm>
          <a:prstGeom prst="roundRect">
            <a:avLst>
              <a:gd name="adj" fmla="val 4000"/>
            </a:avLst>
          </a:prstGeom>
          <a:solidFill>
            <a:srgbClr val="F8F9FA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 tIns="101600" bIns="101600"/>
          <a:lstStyle/>
          <a:p>
            <a:pPr algn="l">
              <a:defRPr sz="1900">
                <a:solidFill>
                  <a:srgbClr val="2C3E50"/>
                </a:solidFill>
                <a:latin typeface="Cambria Math"/>
              </a:defRPr>
            </a:pPr>
            <a:r>
              <a:t>  ∀x,y∈S, ∀α∈[0,1]:  αx+(1-α)y ∈ 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CF0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A47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457200"/>
            <a:ext cx="11064240" cy="585216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A478A"/>
                </a:solidFill>
                <a:latin typeface="Microsoft YaHei"/>
              </a:defRPr>
            </a:pPr>
            <a:r>
              <a:t>§1-2  锥 · 顶点 · 方向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1554480"/>
            <a:ext cx="101498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300"/>
              </a:spcBef>
              <a:spcAft>
                <a:spcPts val="200"/>
              </a:spcAft>
            </a:pPr>
            <a:r>
              <a:rPr sz="1700" b="1">
                <a:solidFill>
                  <a:srgbClr val="2C3E50"/>
                </a:solidFill>
                <a:latin typeface="Microsoft YaHei"/>
              </a:rPr>
              <a:t>▸ 锥 (Cone)：</a:t>
            </a:r>
            <a:r>
              <a:rPr sz="1700">
                <a:solidFill>
                  <a:srgbClr val="2C3E50"/>
                </a:solidFill>
                <a:latin typeface="Microsoft YaHei"/>
              </a:rPr>
              <a:t>∀λ ≥ 0, ∀x ∈ C: λx ∈ C</a:t>
            </a:r>
          </a:p>
          <a:p>
            <a:pPr>
              <a:spcBef>
                <a:spcPts val="300"/>
              </a:spcBef>
              <a:spcAft>
                <a:spcPts val="200"/>
              </a:spcAft>
            </a:pPr>
            <a:r>
              <a:rPr sz="1700" b="1">
                <a:solidFill>
                  <a:srgbClr val="2C3E50"/>
                </a:solidFill>
                <a:latin typeface="Microsoft YaHei"/>
              </a:rPr>
              <a:t>▸ 凸锥 (Convex Cone)：</a:t>
            </a:r>
            <a:r>
              <a:rPr sz="1700">
                <a:solidFill>
                  <a:srgbClr val="2C3E50"/>
                </a:solidFill>
                <a:latin typeface="Microsoft YaHei"/>
              </a:rPr>
              <a:t>既是锥又是凸集</a:t>
            </a:r>
          </a:p>
          <a:p>
            <a:pPr>
              <a:spcBef>
                <a:spcPts val="300"/>
              </a:spcBef>
              <a:spcAft>
                <a:spcPts val="200"/>
              </a:spcAft>
            </a:pPr>
            <a:r>
              <a:rPr sz="1700" b="1">
                <a:solidFill>
                  <a:srgbClr val="2C3E50"/>
                </a:solidFill>
                <a:latin typeface="Microsoft YaHei"/>
              </a:rPr>
              <a:t>▸ 顶点/极点 (Vertex/Extreme Point)：</a:t>
            </a:r>
            <a:r>
              <a:rPr sz="1700">
                <a:solidFill>
                  <a:srgbClr val="2C3E50"/>
                </a:solidFill>
                <a:latin typeface="Microsoft YaHei"/>
              </a:rPr>
              <a:t>x ∈ S 不能表示为 S 中两个不同点的凸组合</a:t>
            </a:r>
          </a:p>
          <a:p>
            <a:pPr>
              <a:spcBef>
                <a:spcPts val="300"/>
              </a:spcBef>
              <a:spcAft>
                <a:spcPts val="200"/>
              </a:spcAft>
            </a:pPr>
            <a:r>
              <a:rPr sz="1700" b="1">
                <a:solidFill>
                  <a:srgbClr val="2C3E50"/>
                </a:solidFill>
                <a:latin typeface="Microsoft YaHei"/>
              </a:rPr>
              <a:t>▸ 方向 (Direction)：</a:t>
            </a:r>
            <a:r>
              <a:rPr sz="1700">
                <a:solidFill>
                  <a:srgbClr val="2C3E50"/>
                </a:solidFill>
                <a:latin typeface="Microsoft YaHei"/>
              </a:rPr>
              <a:t>d ≠ 0 满足 ∀x ∈ S, ∀α ≥ 0: x + αd ∈ S</a:t>
            </a:r>
          </a:p>
          <a:p>
            <a:pPr>
              <a:spcBef>
                <a:spcPts val="300"/>
              </a:spcBef>
              <a:spcAft>
                <a:spcPts val="200"/>
              </a:spcAft>
            </a:pPr>
            <a:r>
              <a:rPr sz="1700" b="1">
                <a:solidFill>
                  <a:srgbClr val="2C3E50"/>
                </a:solidFill>
                <a:latin typeface="Microsoft YaHei"/>
              </a:rPr>
              <a:t>▸ 极方向 (Extreme Direction)：</a:t>
            </a:r>
            <a:r>
              <a:rPr sz="1700">
                <a:solidFill>
                  <a:srgbClr val="2C3E50"/>
                </a:solidFill>
                <a:latin typeface="Microsoft YaHei"/>
              </a:rPr>
              <a:t>d 不能表示为其他两个不同方向的正线性组合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CF0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A47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457200"/>
            <a:ext cx="11064240" cy="585216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A478A"/>
                </a:solidFill>
                <a:latin typeface="Microsoft YaHei"/>
              </a:defRPr>
            </a:pPr>
            <a:r>
              <a:t>§1-2  凸函数 (Convex Function)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1554480"/>
            <a:ext cx="101498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300"/>
              </a:spcBef>
              <a:spcAft>
                <a:spcPts val="200"/>
              </a:spcAft>
            </a:pPr>
            <a:r>
              <a:rPr sz="1700" b="1">
                <a:solidFill>
                  <a:srgbClr val="2C3E50"/>
                </a:solidFill>
                <a:latin typeface="Microsoft YaHei"/>
              </a:rPr>
              <a:t>凸函数定义：</a:t>
            </a:r>
            <a:r>
              <a:rPr sz="1700">
                <a:solidFill>
                  <a:srgbClr val="2C3E50"/>
                </a:solidFill>
                <a:latin typeface="Microsoft YaHei"/>
              </a:rPr>
              <a:t>设 S ⊆ ℝⁿ 是凸集，f : ℝⁿ → ℝ</a:t>
            </a:r>
          </a:p>
          <a:p>
            <a:pPr>
              <a:spcBef>
                <a:spcPts val="300"/>
              </a:spcBef>
              <a:spcAft>
                <a:spcPts val="200"/>
              </a:spcAft>
            </a:pPr>
            <a:r>
              <a:rPr sz="1700" b="1">
                <a:solidFill>
                  <a:srgbClr val="2C3E50"/>
                </a:solidFill>
                <a:latin typeface="Microsoft YaHei"/>
              </a:rPr>
              <a:t>▸ 严格凸函数：</a:t>
            </a:r>
            <a:r>
              <a:rPr sz="1700">
                <a:solidFill>
                  <a:srgbClr val="2C3E50"/>
                </a:solidFill>
                <a:latin typeface="Microsoft YaHei"/>
              </a:rPr>
              <a:t>∀x≠y, α∈(0,1): 严格不等式 &lt; 成立</a:t>
            </a:r>
          </a:p>
          <a:p>
            <a:pPr>
              <a:spcBef>
                <a:spcPts val="300"/>
              </a:spcBef>
              <a:spcAft>
                <a:spcPts val="200"/>
              </a:spcAft>
            </a:pPr>
            <a:r>
              <a:rPr sz="1700" b="1">
                <a:solidFill>
                  <a:srgbClr val="2C3E50"/>
                </a:solidFill>
                <a:latin typeface="Microsoft YaHei"/>
              </a:rPr>
              <a:t>▸ 一致凸/强凸函数：</a:t>
            </a:r>
            <a:r>
              <a:rPr sz="1700">
                <a:solidFill>
                  <a:srgbClr val="2C3E50"/>
                </a:solidFill>
                <a:latin typeface="Microsoft YaHei"/>
              </a:rPr>
              <a:t>∃m&gt;0: f[αx+(1-α)y] ≤ αf(x)+(1-α)f(y) - mα(1-α)‖x-y‖²</a:t>
            </a:r>
          </a:p>
          <a:p>
            <a:pPr>
              <a:spcBef>
                <a:spcPts val="600"/>
              </a:spcBef>
            </a:pPr>
            <a:r>
              <a:rPr sz="1600" i="1">
                <a:solidFill>
                  <a:srgbClr val="2E8B57"/>
                </a:solidFill>
                <a:latin typeface="Microsoft YaHei"/>
              </a:rPr>
              <a:t>一致凸 ⇒ 严格凸 ⇒ 凸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05840" y="2286000"/>
            <a:ext cx="10058400" cy="731520"/>
          </a:xfrm>
          <a:prstGeom prst="roundRect">
            <a:avLst>
              <a:gd name="adj" fmla="val 4000"/>
            </a:avLst>
          </a:prstGeom>
          <a:solidFill>
            <a:srgbClr val="F8F9FA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 tIns="101600" bIns="101600"/>
          <a:lstStyle/>
          <a:p>
            <a:pPr algn="l">
              <a:defRPr sz="1800">
                <a:solidFill>
                  <a:srgbClr val="2C3E50"/>
                </a:solidFill>
                <a:latin typeface="Cambria Math"/>
              </a:defRPr>
            </a:pPr>
            <a:r>
              <a:t>  f[αx + (1-α)y] ≤ αf(x) + (1-α)f(y),  ∀x,y∈S, ∀α∈[0,1]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CF0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A47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457200"/>
            <a:ext cx="11064240" cy="585216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A478A"/>
                </a:solidFill>
                <a:latin typeface="Microsoft YaHei"/>
              </a:defRPr>
            </a:pPr>
            <a:r>
              <a:t>§1-2  凸函数的等价条件 (定理 1.2.1)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1554480"/>
            <a:ext cx="101498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2C3E50"/>
                </a:solidFill>
                <a:latin typeface="Microsoft YaHei"/>
              </a:defRPr>
            </a:pPr>
            <a:r>
              <a:t>设 f 二次连续可微，则以下命题等价：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700">
                <a:solidFill>
                  <a:srgbClr val="2C3E50"/>
                </a:solidFill>
                <a:latin typeface="Microsoft YaHei"/>
              </a:defRPr>
            </a:pPr>
            <a:r>
              <a:t>(1) f 是凸函数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700">
                <a:solidFill>
                  <a:srgbClr val="2C3E50"/>
                </a:solidFill>
                <a:latin typeface="Microsoft YaHei"/>
              </a:defRPr>
            </a:pPr>
            <a:r>
              <a:t>(2) φ(t) = f[ t x + (1-t)y ] 是 [0,1] 上的凸函数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700">
                <a:solidFill>
                  <a:srgbClr val="2C3E50"/>
                </a:solidFill>
                <a:latin typeface="Microsoft YaHei"/>
              </a:defRPr>
            </a:pPr>
            <a:r>
              <a:t>(3) f(x) - f(y) ≥ ∇f(y)ᵀ (x-y),  ∀x,y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700">
                <a:solidFill>
                  <a:srgbClr val="2C3E50"/>
                </a:solidFill>
                <a:latin typeface="Microsoft YaHei"/>
              </a:defRPr>
            </a:pPr>
            <a:r>
              <a:t>(4) [∇f(x) - ∇f(y)]ᵀ (x-y) ≥ 0  (梯度单调增)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700">
                <a:solidFill>
                  <a:srgbClr val="2C3E50"/>
                </a:solidFill>
                <a:latin typeface="Microsoft YaHei"/>
              </a:defRPr>
            </a:pPr>
            <a:r>
              <a:t>(5) ∇²f(x) 半正定, ∀x</a:t>
            </a:r>
          </a:p>
          <a:p>
            <a:pPr>
              <a:spcBef>
                <a:spcPts val="600"/>
              </a:spcBef>
            </a:pPr>
            <a:r>
              <a:rPr sz="1500" i="1">
                <a:solidFill>
                  <a:srgbClr val="2E8B57"/>
                </a:solidFill>
                <a:latin typeface="Microsoft YaHei"/>
              </a:rPr>
              <a:t>→ 该定理是凸函数理论的核心结果之一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CF0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A47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457200"/>
            <a:ext cx="11064240" cy="585216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A478A"/>
                </a:solidFill>
                <a:latin typeface="Microsoft YaHei"/>
              </a:defRPr>
            </a:pPr>
            <a:r>
              <a:t>§1-2  等价条件证明思路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1554480"/>
            <a:ext cx="101498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>
                <a:solidFill>
                  <a:srgbClr val="2C3E50"/>
                </a:solidFill>
                <a:latin typeface="Microsoft YaHei"/>
              </a:defRPr>
            </a:pPr>
            <a:r>
              <a:t>(1) ⇔ (2)：利用凸函数定义与一元辅助函数 φ(t) 直接验证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700">
                <a:solidFill>
                  <a:srgbClr val="2C3E50"/>
                </a:solidFill>
                <a:latin typeface="Microsoft YaHei"/>
              </a:defRPr>
            </a:pPr>
            <a:r>
              <a:t>(1) ⇒ (3)：由凸性得差商不等式，令 α → 0⁺ 取极限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700">
                <a:solidFill>
                  <a:srgbClr val="2C3E50"/>
                </a:solidFill>
                <a:latin typeface="Microsoft YaHei"/>
              </a:defRPr>
            </a:pPr>
            <a:r>
              <a:t>(3) ⇒ (4)：交换 x, y 写出两个不等式，相加即得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700">
                <a:solidFill>
                  <a:srgbClr val="2C3E50"/>
                </a:solidFill>
                <a:latin typeface="Microsoft YaHei"/>
              </a:defRPr>
            </a:pPr>
            <a:r>
              <a:t>(4) ⇒ (5)：令 y = x + tp，利用极限推导得 pᵀ∇²f(x)p ≥ 0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700">
                <a:solidFill>
                  <a:srgbClr val="2C3E50"/>
                </a:solidFill>
                <a:latin typeface="Microsoft YaHei"/>
              </a:defRPr>
            </a:pPr>
            <a:r>
              <a:t>(5) ⇒ (1)：利用二阶 Taylor 展开 + 半正定性得凸性定义</a:t>
            </a:r>
          </a:p>
          <a:p>
            <a:pPr>
              <a:spcBef>
                <a:spcPts val="800"/>
              </a:spcBef>
            </a:pPr>
            <a:r>
              <a:rPr sz="1600" i="1">
                <a:solidFill>
                  <a:srgbClr val="1A478A"/>
                </a:solidFill>
                <a:latin typeface="Microsoft YaHei"/>
              </a:rPr>
              <a:t>证明逻辑闭环：(1)→(3)→(4)→(5)→(1)，且(1)⇔(2)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CF0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A47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457200"/>
            <a:ext cx="11064240" cy="585216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A478A"/>
                </a:solidFill>
                <a:latin typeface="Microsoft YaHei"/>
              </a:defRPr>
            </a:pPr>
            <a:r>
              <a:t>§1-2  凸函数的上图像特征 (定理 1.2.2)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1554480"/>
            <a:ext cx="101498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2C3E50"/>
                </a:solidFill>
                <a:latin typeface="Microsoft YaHei"/>
              </a:defRPr>
            </a:pPr>
            <a:r>
              <a:t>定理：设 S 是凸集，则 f 是凸函数 ⟺ f 的上图像是凸集</a:t>
            </a:r>
          </a:p>
          <a:p>
            <a:pPr>
              <a:spcBef>
                <a:spcPts val="1000"/>
              </a:spcBef>
            </a:pPr>
            <a:r>
              <a:rPr sz="1800" b="1">
                <a:solidFill>
                  <a:srgbClr val="2E8B57"/>
                </a:solidFill>
                <a:latin typeface="Microsoft YaHei"/>
              </a:rPr>
              <a:t>必要性证明思路</a:t>
            </a:r>
            <a:r>
              <a:rPr sz="1600">
                <a:solidFill>
                  <a:srgbClr val="2C3E50"/>
                </a:solidFill>
                <a:latin typeface="Microsoft YaHei"/>
              </a:rPr>
              <a:t>：若 f 凸，对任意 (x⁽¹⁾,α₁), (x⁽²⁾,α₂) ∈ P(f)，由凸性定义可得凸组合仍在 P(f) 中</a:t>
            </a:r>
          </a:p>
          <a:p>
            <a:pPr>
              <a:spcBef>
                <a:spcPts val="600"/>
              </a:spcBef>
            </a:pPr>
            <a:r>
              <a:rPr sz="1800" b="1">
                <a:solidFill>
                  <a:srgbClr val="2E8B57"/>
                </a:solidFill>
                <a:latin typeface="Microsoft YaHei"/>
              </a:rPr>
              <a:t>充分性证明思路</a:t>
            </a:r>
            <a:r>
              <a:rPr sz="1600">
                <a:solidFill>
                  <a:srgbClr val="2C3E50"/>
                </a:solidFill>
                <a:latin typeface="Microsoft YaHei"/>
              </a:rPr>
              <a:t>：若 P(f) 凸，取 (x⁽¹⁾,f(x⁽¹⁾)), (x⁽²⁾,f(x⁽²⁾)) ∈ P(f)，由凸集定义即得 f 的凸性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05840" y="2286000"/>
            <a:ext cx="10058400" cy="640080"/>
          </a:xfrm>
          <a:prstGeom prst="roundRect">
            <a:avLst>
              <a:gd name="adj" fmla="val 4000"/>
            </a:avLst>
          </a:prstGeom>
          <a:solidFill>
            <a:srgbClr val="F8F9FA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 tIns="101600" bIns="101600"/>
          <a:lstStyle/>
          <a:p>
            <a:pPr algn="l">
              <a:defRPr sz="1800">
                <a:solidFill>
                  <a:srgbClr val="2C3E50"/>
                </a:solidFill>
                <a:latin typeface="Cambria Math"/>
              </a:defRPr>
            </a:pPr>
            <a:r>
              <a:t>  上图像:  P(f) = { (x,α) | x∈S, α∈ℝ, f(x) ≤ α }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CF0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A47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457200"/>
            <a:ext cx="11064240" cy="585216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A478A"/>
                </a:solidFill>
                <a:latin typeface="Microsoft YaHei"/>
              </a:defRPr>
            </a:pPr>
            <a:r>
              <a:t>§1-2  凹函数与水平集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1554480"/>
            <a:ext cx="101498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solidFill>
                  <a:srgbClr val="2E8B57"/>
                </a:solidFill>
                <a:latin typeface="Microsoft YaHei"/>
              </a:defRPr>
            </a:pPr>
            <a:r>
              <a:t>凹函数 (Concave Function) — 定理 1.2.3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700">
                <a:solidFill>
                  <a:srgbClr val="2C3E50"/>
                </a:solidFill>
                <a:latin typeface="Microsoft YaHei"/>
              </a:defRPr>
            </a:pPr>
            <a:r>
              <a:t>定义：-f 是凸函数 ⟺ f 是凹函数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700">
                <a:solidFill>
                  <a:srgbClr val="2C3E50"/>
                </a:solidFill>
                <a:latin typeface="Microsoft YaHei"/>
              </a:defRPr>
            </a:pPr>
            <a:r>
              <a:t>等价条件：f(x)-f(y) ≤ ∇f(y)ᵀ(x-y), ∇²f(x) 半负定</a:t>
            </a:r>
          </a:p>
          <a:p>
            <a:pPr>
              <a:spcBef>
                <a:spcPts val="1200"/>
              </a:spcBef>
            </a:pPr>
            <a:r>
              <a:rPr sz="1900" b="1">
                <a:solidFill>
                  <a:srgbClr val="2E8B57"/>
                </a:solidFill>
                <a:latin typeface="Microsoft YaHei"/>
              </a:rPr>
              <a:t>水平集的凸性 — 定理 1.2.4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700">
                <a:solidFill>
                  <a:srgbClr val="2C3E50"/>
                </a:solidFill>
                <a:latin typeface="Microsoft YaHei"/>
              </a:defRPr>
            </a:pPr>
            <a:r>
              <a:t>证明：对任意 x⁽¹⁾, x⁽²⁾ ∈ S_α，由凸性得凸组合仍在 S_α 中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05840" y="4114800"/>
            <a:ext cx="10058400" cy="548640"/>
          </a:xfrm>
          <a:prstGeom prst="roundRect">
            <a:avLst>
              <a:gd name="adj" fmla="val 4000"/>
            </a:avLst>
          </a:prstGeom>
          <a:solidFill>
            <a:srgbClr val="F8F9FA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 tIns="101600" bIns="101600"/>
          <a:lstStyle/>
          <a:p>
            <a:pPr algn="l">
              <a:defRPr sz="1800">
                <a:solidFill>
                  <a:srgbClr val="2C3E50"/>
                </a:solidFill>
                <a:latin typeface="Cambria Math"/>
              </a:defRPr>
            </a:pPr>
            <a:r>
              <a:t>  水平集:  S_α = { x∈S | f(x) ≤ α }  是凸集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CF0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A47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457200"/>
            <a:ext cx="11064240" cy="585216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A478A"/>
                </a:solidFill>
                <a:latin typeface="Microsoft YaHei"/>
              </a:defRPr>
            </a:pPr>
            <a:r>
              <a:t>§1-2  严格凸函数 (定理 1.2.5)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1554480"/>
            <a:ext cx="101498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>
                <a:solidFill>
                  <a:srgbClr val="2C3E50"/>
                </a:solidFill>
                <a:latin typeface="Microsoft YaHei"/>
              </a:defRPr>
            </a:pPr>
            <a:r>
              <a:t>定理：设 f 二次连续可微，下列之一成立则 f 严格凸：</a:t>
            </a:r>
          </a:p>
          <a:p>
            <a:pPr>
              <a:spcBef>
                <a:spcPts val="300"/>
              </a:spcBef>
              <a:spcAft>
                <a:spcPts val="200"/>
              </a:spcAft>
            </a:pPr>
            <a:r>
              <a:rPr sz="1700" b="1">
                <a:solidFill>
                  <a:srgbClr val="2C3E50"/>
                </a:solidFill>
                <a:latin typeface="Microsoft YaHei"/>
              </a:rPr>
              <a:t>条件 (1)：</a:t>
            </a:r>
            <a:r>
              <a:rPr sz="1700">
                <a:solidFill>
                  <a:srgbClr val="2C3E50"/>
                </a:solidFill>
                <a:latin typeface="Microsoft YaHei"/>
              </a:rPr>
              <a:t>f(x) - f(y) &gt; ∇f(y)ᵀ (x-y),  ∀x≠y</a:t>
            </a:r>
          </a:p>
          <a:p>
            <a:pPr>
              <a:spcBef>
                <a:spcPts val="300"/>
              </a:spcBef>
              <a:spcAft>
                <a:spcPts val="200"/>
              </a:spcAft>
            </a:pPr>
            <a:r>
              <a:rPr sz="1700" b="1">
                <a:solidFill>
                  <a:srgbClr val="2C3E50"/>
                </a:solidFill>
                <a:latin typeface="Microsoft YaHei"/>
              </a:rPr>
              <a:t>条件 (2)：</a:t>
            </a:r>
            <a:r>
              <a:rPr sz="1700">
                <a:solidFill>
                  <a:srgbClr val="2C3E50"/>
                </a:solidFill>
                <a:latin typeface="Microsoft YaHei"/>
              </a:rPr>
              <a:t>∇²f(x) 正定,  ∀x</a:t>
            </a:r>
          </a:p>
          <a:p>
            <a:pPr>
              <a:spcBef>
                <a:spcPts val="1000"/>
              </a:spcBef>
            </a:pPr>
            <a:r>
              <a:rPr sz="1800" b="1">
                <a:solidFill>
                  <a:srgbClr val="2E8B57"/>
                </a:solidFill>
                <a:latin typeface="Microsoft YaHei"/>
              </a:rPr>
              <a:t>证明思路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700">
                <a:solidFill>
                  <a:srgbClr val="2C3E50"/>
                </a:solidFill>
                <a:latin typeface="Microsoft YaHei"/>
              </a:defRPr>
            </a:pPr>
            <a:r>
              <a:t>(2) ⇒ (1)：由二阶 Taylor 展开 + Hessian 正定性得严格不等式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700">
                <a:solidFill>
                  <a:srgbClr val="2C3E50"/>
                </a:solidFill>
                <a:latin typeface="Microsoft YaHei"/>
              </a:defRPr>
            </a:pPr>
            <a:r>
              <a:t>(1) ⇒ 严格凸：对任意 x≠y, α∈(0,1)，令 z = αx+(1-α)y，利用 (1) 推导凸组合不等式</a:t>
            </a:r>
          </a:p>
          <a:p>
            <a:pPr>
              <a:spcBef>
                <a:spcPts val="600"/>
              </a:spcBef>
            </a:pPr>
            <a:r>
              <a:rPr sz="1500" i="1">
                <a:solidFill>
                  <a:srgbClr val="E74C3C"/>
                </a:solidFill>
                <a:latin typeface="Microsoft YaHei"/>
              </a:rPr>
              <a:t>注：∇²f(x) 正定是严格凸的充分条件，但不是必要条件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CF0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A47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457200"/>
            <a:ext cx="11064240" cy="585216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A478A"/>
                </a:solidFill>
                <a:latin typeface="Microsoft YaHei"/>
              </a:defRPr>
            </a:pPr>
            <a:r>
              <a:t>§1-2  一致凸函数 (定理 1.2.6)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1554480"/>
            <a:ext cx="101498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300"/>
              </a:spcBef>
              <a:spcAft>
                <a:spcPts val="200"/>
              </a:spcAft>
            </a:pPr>
            <a:r>
              <a:rPr sz="1700" b="1">
                <a:solidFill>
                  <a:srgbClr val="2C3E50"/>
                </a:solidFill>
                <a:latin typeface="Microsoft YaHei"/>
              </a:rPr>
              <a:t>充要条件：</a:t>
            </a:r>
            <a:r>
              <a:rPr sz="1700">
                <a:solidFill>
                  <a:srgbClr val="2C3E50"/>
                </a:solidFill>
                <a:latin typeface="Microsoft YaHei"/>
              </a:rPr>
              <a:t>f 二次连续可微，则 f 一致凸 ⟺ ∇²f(x) 一致正定</a:t>
            </a:r>
          </a:p>
          <a:p>
            <a:pPr>
              <a:spcBef>
                <a:spcPts val="1000"/>
              </a:spcBef>
            </a:pPr>
            <a:r>
              <a:rPr sz="1700" b="1">
                <a:solidFill>
                  <a:srgbClr val="2E8B57"/>
                </a:solidFill>
                <a:latin typeface="Microsoft YaHei"/>
              </a:rPr>
              <a:t>必要性证明思路</a:t>
            </a:r>
            <a:r>
              <a:rPr sz="1600">
                <a:solidFill>
                  <a:srgbClr val="2C3E50"/>
                </a:solidFill>
                <a:latin typeface="Microsoft YaHei"/>
              </a:rPr>
              <a:t>：设 f 一致凸，利用一致凸定义 + Taylor 展开 + t→0⁺ 极限</a:t>
            </a:r>
          </a:p>
          <a:p>
            <a:r>
              <a:rPr sz="1700" b="1">
                <a:solidFill>
                  <a:srgbClr val="2E8B57"/>
                </a:solidFill>
                <a:latin typeface="Microsoft YaHei"/>
              </a:rPr>
              <a:t>充分性证明思路</a:t>
            </a:r>
            <a:r>
              <a:rPr sz="1600">
                <a:solidFill>
                  <a:srgbClr val="2C3E50"/>
                </a:solidFill>
                <a:latin typeface="Microsoft YaHei"/>
              </a:rPr>
              <a:t>：设 ∇²f 一致正定，由 Taylor 展开 + 一致正定性得一致凸定义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05840" y="2286000"/>
            <a:ext cx="10058400" cy="640080"/>
          </a:xfrm>
          <a:prstGeom prst="roundRect">
            <a:avLst>
              <a:gd name="adj" fmla="val 4000"/>
            </a:avLst>
          </a:prstGeom>
          <a:solidFill>
            <a:srgbClr val="F8F9FA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 tIns="101600" bIns="101600"/>
          <a:lstStyle/>
          <a:p>
            <a:pPr algn="l">
              <a:defRPr sz="1800">
                <a:solidFill>
                  <a:srgbClr val="2C3E50"/>
                </a:solidFill>
                <a:latin typeface="Cambria Math"/>
              </a:defRPr>
            </a:pPr>
            <a:r>
              <a:t>  ∇²f(x) 一致正定  ⟺  ∃m&gt;0: pᵀ∇²f(x)p ≥ m‖p‖², ∀p∈ℝⁿ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CF0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A47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457200"/>
            <a:ext cx="11064240" cy="585216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A478A"/>
                </a:solidFill>
                <a:latin typeface="Microsoft YaHei"/>
              </a:defRPr>
            </a:pPr>
            <a:r>
              <a:t>§1-2  一致凸函数的等价条件 (定理 1.2.7)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1554480"/>
            <a:ext cx="101498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2C3E50"/>
                </a:solidFill>
                <a:latin typeface="Microsoft YaHei"/>
              </a:defRPr>
            </a:pPr>
            <a:r>
              <a:t>定理：设 f 连续可微，则以下等价：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700">
                <a:solidFill>
                  <a:srgbClr val="2C3E50"/>
                </a:solidFill>
                <a:latin typeface="Microsoft YaHei"/>
              </a:defRPr>
            </a:pPr>
            <a:r>
              <a:t>(1) f 是一致凸函数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700">
                <a:solidFill>
                  <a:srgbClr val="2C3E50"/>
                </a:solidFill>
                <a:latin typeface="Microsoft YaHei"/>
              </a:defRPr>
            </a:pPr>
            <a:r>
              <a:t>(2) ∃m&gt;0: f(x)-f(y) ≥ ∇f(y)ᵀ(x-y) + m‖x-y‖²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700">
                <a:solidFill>
                  <a:srgbClr val="2C3E50"/>
                </a:solidFill>
                <a:latin typeface="Microsoft YaHei"/>
              </a:defRPr>
            </a:pPr>
            <a:r>
              <a:t>(3) ∃m̄&gt;0: [∇f(x)-∇f(y)]ᵀ(x-y) ≥ m̄‖x-y‖²</a:t>
            </a:r>
          </a:p>
          <a:p>
            <a:pPr>
              <a:spcBef>
                <a:spcPts val="800"/>
              </a:spcBef>
            </a:pPr>
            <a:r>
              <a:rPr sz="1500" i="1">
                <a:solidFill>
                  <a:srgbClr val="2E8B57"/>
                </a:solidFill>
                <a:latin typeface="Microsoft YaHei"/>
              </a:rPr>
              <a:t>→ 一致凸性保证了强单调梯度，是算法收敛性分析的重要工具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CF0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A47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457200"/>
            <a:ext cx="11064240" cy="585216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A478A"/>
                </a:solidFill>
                <a:latin typeface="Microsoft YaHei"/>
              </a:defRPr>
            </a:pPr>
            <a:r>
              <a:t>§1-2  收敛性概念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1554480"/>
            <a:ext cx="101498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2E8B57"/>
                </a:solidFill>
                <a:latin typeface="Microsoft YaHei"/>
              </a:defRPr>
            </a:pPr>
            <a:r>
              <a:t>算法收敛性的定义</a:t>
            </a:r>
          </a:p>
          <a:p>
            <a:pPr>
              <a:spcBef>
                <a:spcPts val="300"/>
              </a:spcBef>
              <a:spcAft>
                <a:spcPts val="200"/>
              </a:spcAft>
            </a:pPr>
            <a:r>
              <a:rPr sz="1700" b="1">
                <a:solidFill>
                  <a:srgbClr val="2C3E50"/>
                </a:solidFill>
                <a:latin typeface="Microsoft YaHei"/>
              </a:rPr>
              <a:t>▸ 局部收敛：</a:t>
            </a:r>
            <a:r>
              <a:rPr sz="1700">
                <a:solidFill>
                  <a:srgbClr val="2C3E50"/>
                </a:solidFill>
                <a:latin typeface="Microsoft YaHei"/>
              </a:rPr>
              <a:t>∃U(x*): 初始点 x⁽⁰⁾∈U(x*) 时算法收敛到 x*</a:t>
            </a:r>
          </a:p>
          <a:p>
            <a:pPr>
              <a:spcBef>
                <a:spcPts val="300"/>
              </a:spcBef>
              <a:spcAft>
                <a:spcPts val="200"/>
              </a:spcAft>
            </a:pPr>
            <a:r>
              <a:rPr sz="1700" b="1">
                <a:solidFill>
                  <a:srgbClr val="2C3E50"/>
                </a:solidFill>
                <a:latin typeface="Microsoft YaHei"/>
              </a:rPr>
              <a:t>▸ 全局收敛：</a:t>
            </a:r>
            <a:r>
              <a:rPr sz="1700">
                <a:solidFill>
                  <a:srgbClr val="2C3E50"/>
                </a:solidFill>
                <a:latin typeface="Microsoft YaHei"/>
              </a:rPr>
              <a:t>对任意初始点 x⁽⁰⁾ 算法收敛到某点 x*</a:t>
            </a:r>
          </a:p>
          <a:p>
            <a:pPr>
              <a:spcBef>
                <a:spcPts val="1000"/>
              </a:spcBef>
            </a:pPr>
            <a:r>
              <a:rPr sz="1900" b="1">
                <a:solidFill>
                  <a:srgbClr val="2E8B57"/>
                </a:solidFill>
                <a:latin typeface="Microsoft YaHei"/>
              </a:rPr>
              <a:t>收敛阶（设 {x⁽ᵏ⁾} → x*）</a:t>
            </a:r>
          </a:p>
          <a:p>
            <a:pPr>
              <a:spcBef>
                <a:spcPts val="300"/>
              </a:spcBef>
              <a:spcAft>
                <a:spcPts val="200"/>
              </a:spcAft>
            </a:pPr>
            <a:r>
              <a:rPr sz="1700" b="1">
                <a:solidFill>
                  <a:srgbClr val="2C3E50"/>
                </a:solidFill>
                <a:latin typeface="Microsoft YaHei"/>
              </a:rPr>
              <a:t>▸ 线性收敛：</a:t>
            </a:r>
            <a:r>
              <a:rPr sz="1700">
                <a:solidFill>
                  <a:srgbClr val="2C3E50"/>
                </a:solidFill>
                <a:latin typeface="Microsoft YaHei"/>
              </a:rPr>
              <a:t>‖x⁽ᵏ⁺¹⁾-x*‖ ≤ ρ ‖x⁽ᵏ⁾-x*‖,  ρ∈(0,1)</a:t>
            </a:r>
          </a:p>
          <a:p>
            <a:pPr>
              <a:spcBef>
                <a:spcPts val="300"/>
              </a:spcBef>
              <a:spcAft>
                <a:spcPts val="200"/>
              </a:spcAft>
            </a:pPr>
            <a:r>
              <a:rPr sz="1700" b="1">
                <a:solidFill>
                  <a:srgbClr val="2C3E50"/>
                </a:solidFill>
                <a:latin typeface="Microsoft YaHei"/>
              </a:rPr>
              <a:t>▸ 超线性收敛：</a:t>
            </a:r>
            <a:r>
              <a:rPr sz="1700">
                <a:solidFill>
                  <a:srgbClr val="2C3E50"/>
                </a:solidFill>
                <a:latin typeface="Microsoft YaHei"/>
              </a:rPr>
              <a:t>lim ‖x⁽ᵏ⁺¹⁾-x*‖ / ‖x⁽ᵏ⁾-x*‖ = 0</a:t>
            </a:r>
          </a:p>
          <a:p>
            <a:pPr>
              <a:spcBef>
                <a:spcPts val="300"/>
              </a:spcBef>
              <a:spcAft>
                <a:spcPts val="200"/>
              </a:spcAft>
            </a:pPr>
            <a:r>
              <a:rPr sz="1700" b="1">
                <a:solidFill>
                  <a:srgbClr val="2C3E50"/>
                </a:solidFill>
                <a:latin typeface="Microsoft YaHei"/>
              </a:rPr>
              <a:t>▸ 二次收敛：</a:t>
            </a:r>
            <a:r>
              <a:rPr sz="1700">
                <a:solidFill>
                  <a:srgbClr val="2C3E50"/>
                </a:solidFill>
                <a:latin typeface="Microsoft YaHei"/>
              </a:rPr>
              <a:t>‖x⁽ᵏ⁺¹⁾-x*‖ ≤ M ‖x⁽ᵏ⁾-x*‖²</a:t>
            </a:r>
          </a:p>
          <a:p>
            <a:r>
              <a:rPr sz="1500" i="1">
                <a:solidFill>
                  <a:srgbClr val="2E8B57"/>
                </a:solidFill>
                <a:latin typeface="Microsoft YaHei"/>
              </a:rPr>
              <a:t>二次 ⇒ 超线性 ⇒ 线性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CF0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A47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457200"/>
            <a:ext cx="11064240" cy="585216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A478A"/>
                </a:solidFill>
                <a:latin typeface="Microsoft YaHei"/>
              </a:defRPr>
            </a:pPr>
            <a:r>
              <a:t>附录  Sherman-Morrison 公式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1554480"/>
            <a:ext cx="101498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>
                <a:solidFill>
                  <a:srgbClr val="2C3E50"/>
                </a:solidFill>
                <a:latin typeface="Microsoft YaHei"/>
              </a:defRPr>
            </a:pPr>
            <a:r>
              <a:t>定理 1.2.8：设 A 非奇异, u,v ∈ ℝⁿ, 1+vᵀA⁻¹u ≠ 0，则</a:t>
            </a:r>
          </a:p>
          <a:p>
            <a:pPr>
              <a:spcBef>
                <a:spcPts val="1000"/>
              </a:spcBef>
            </a:pPr>
            <a:r>
              <a:rPr sz="1800" b="1">
                <a:solidFill>
                  <a:srgbClr val="2E8B57"/>
                </a:solidFill>
                <a:latin typeface="Microsoft YaHei"/>
              </a:rPr>
              <a:t>引理 1.2.1（行列式计算公式）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05840" y="2286000"/>
            <a:ext cx="10058400" cy="640080"/>
          </a:xfrm>
          <a:prstGeom prst="roundRect">
            <a:avLst>
              <a:gd name="adj" fmla="val 4000"/>
            </a:avLst>
          </a:prstGeom>
          <a:solidFill>
            <a:srgbClr val="F8F9FA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 tIns="101600" bIns="101600"/>
          <a:lstStyle/>
          <a:p>
            <a:pPr algn="l">
              <a:defRPr sz="1900">
                <a:solidFill>
                  <a:srgbClr val="2C3E50"/>
                </a:solidFill>
                <a:latin typeface="Cambria Math"/>
              </a:defRPr>
            </a:pPr>
            <a:r>
              <a:t>  (A + uvᵀ)⁻¹ = A⁻¹ − (A⁻¹uvᵀA⁻¹) / (1 + vᵀA⁻¹u)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05840" y="3840480"/>
            <a:ext cx="10058400" cy="640080"/>
          </a:xfrm>
          <a:prstGeom prst="roundRect">
            <a:avLst>
              <a:gd name="adj" fmla="val 4000"/>
            </a:avLst>
          </a:prstGeom>
          <a:solidFill>
            <a:srgbClr val="F8F9FA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 tIns="101600" bIns="101600"/>
          <a:lstStyle/>
          <a:p>
            <a:pPr algn="l">
              <a:defRPr sz="1800">
                <a:solidFill>
                  <a:srgbClr val="2C3E50"/>
                </a:solidFill>
                <a:latin typeface="Cambria Math"/>
              </a:defRPr>
            </a:pPr>
            <a:r>
              <a:t>  det(I+u₁v₁ᵀ) = 1+u₁ᵀv₁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05840" y="4663440"/>
            <a:ext cx="10058400" cy="640080"/>
          </a:xfrm>
          <a:prstGeom prst="roundRect">
            <a:avLst>
              <a:gd name="adj" fmla="val 4000"/>
            </a:avLst>
          </a:prstGeom>
          <a:solidFill>
            <a:srgbClr val="F8F9FA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 tIns="101600" bIns="101600"/>
          <a:lstStyle/>
          <a:p>
            <a:pPr algn="l">
              <a:defRPr sz="1800">
                <a:solidFill>
                  <a:srgbClr val="2C3E50"/>
                </a:solidFill>
                <a:latin typeface="Cambria Math"/>
              </a:defRPr>
            </a:pPr>
            <a:r>
              <a:t>  det(I+u₁v₁ᵀ+u₂v₂ᵀ) = (1+u₁ᵀv₁)(1+u₂ᵀv₂) − (u₁ᵀv₂)(v₁ᵀu₂)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CF0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A47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457200"/>
            <a:ext cx="11064240" cy="585216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A478A"/>
                </a:solidFill>
                <a:latin typeface="Microsoft YaHei"/>
              </a:defRPr>
            </a:pPr>
            <a:r>
              <a:t>本章总结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1554480"/>
            <a:ext cx="101498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300"/>
              </a:spcBef>
              <a:spcAft>
                <a:spcPts val="200"/>
              </a:spcAft>
              <a:defRPr sz="1700">
                <a:solidFill>
                  <a:srgbClr val="2C3E50"/>
                </a:solidFill>
                <a:latin typeface="Microsoft YaHei"/>
              </a:defRPr>
            </a:pPr>
            <a:r>
              <a:t>建立了最优化问题的数学模型，区分了无约束/约束问题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700">
                <a:solidFill>
                  <a:srgbClr val="2C3E50"/>
                </a:solidFill>
                <a:latin typeface="Microsoft YaHei"/>
              </a:defRPr>
            </a:pPr>
            <a:r>
              <a:t>定义并分类了局部最优解、全局最优解等概念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700">
                <a:solidFill>
                  <a:srgbClr val="2C3E50"/>
                </a:solidFill>
                <a:latin typeface="Microsoft YaHei"/>
              </a:defRPr>
            </a:pPr>
            <a:r>
              <a:t>回顾了梯度、Hessian 矩阵、Taylor 展开等分析工具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700">
                <a:solidFill>
                  <a:srgbClr val="2C3E50"/>
                </a:solidFill>
                <a:latin typeface="Microsoft YaHei"/>
              </a:defRPr>
            </a:pPr>
            <a:r>
              <a:t>系统介绍了凸集的定义、性质及锥、顶点、方向等概念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700">
                <a:solidFill>
                  <a:srgbClr val="2C3E50"/>
                </a:solidFill>
                <a:latin typeface="Microsoft YaHei"/>
              </a:defRPr>
            </a:pPr>
            <a:r>
              <a:t>深入讨论了凸函数、严格凸函数、一致凸函数的定义与等价条件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700">
                <a:solidFill>
                  <a:srgbClr val="2C3E50"/>
                </a:solidFill>
                <a:latin typeface="Microsoft YaHei"/>
              </a:defRPr>
            </a:pPr>
            <a:r>
              <a:t>介绍了算法的收敛性概念（局部/全局收敛、线性/超线性/二次收敛）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700">
                <a:solidFill>
                  <a:srgbClr val="2C3E50"/>
                </a:solidFill>
                <a:latin typeface="Microsoft YaHei"/>
              </a:defRPr>
            </a:pPr>
            <a:r>
              <a:t>给出 Sherman-Morrison 公式及其相关行列式引理</a:t>
            </a:r>
          </a:p>
          <a:p>
            <a:pPr>
              <a:spcBef>
                <a:spcPts val="1000"/>
              </a:spcBef>
            </a:pPr>
            <a:r>
              <a:rPr sz="1700" b="1">
                <a:solidFill>
                  <a:srgbClr val="1A478A"/>
                </a:solidFill>
                <a:latin typeface="Microsoft YaHei"/>
              </a:rPr>
              <a:t>→ 本章为后续各章算法分析奠定了理论基础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